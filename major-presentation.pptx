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3" r:id="rId7"/>
    <p:sldId id="260" r:id="rId8"/>
    <p:sldId id="267" r:id="rId9"/>
    <p:sldId id="261" r:id="rId10"/>
    <p:sldId id="262" r:id="rId11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28" autoAdjust="0"/>
  </p:normalViewPr>
  <p:slideViewPr>
    <p:cSldViewPr>
      <p:cViewPr varScale="1">
        <p:scale>
          <a:sx n="96" d="100"/>
          <a:sy n="96" d="100"/>
        </p:scale>
        <p:origin x="178" y="-5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78438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899275" y="0"/>
            <a:ext cx="527685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A22B6-2E60-41B5-9EA5-194372A7415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383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7613" y="3300413"/>
            <a:ext cx="974407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78438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99275" y="6513513"/>
            <a:ext cx="527685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7ED44-8927-4FD2-A915-C1FC76031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44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364492" y="6438900"/>
            <a:ext cx="558800" cy="419100"/>
          </a:xfrm>
          <a:custGeom>
            <a:avLst/>
            <a:gdLst/>
            <a:ahLst/>
            <a:cxnLst/>
            <a:rect l="l" t="t" r="r" b="b"/>
            <a:pathLst>
              <a:path w="558800" h="419100">
                <a:moveTo>
                  <a:pt x="558653" y="419099"/>
                </a:moveTo>
                <a:lnTo>
                  <a:pt x="0" y="419099"/>
                </a:lnTo>
                <a:lnTo>
                  <a:pt x="0" y="0"/>
                </a:lnTo>
                <a:lnTo>
                  <a:pt x="558653" y="0"/>
                </a:lnTo>
                <a:lnTo>
                  <a:pt x="558653" y="419099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679927" y="6463352"/>
            <a:ext cx="10698480" cy="0"/>
          </a:xfrm>
          <a:custGeom>
            <a:avLst/>
            <a:gdLst/>
            <a:ahLst/>
            <a:cxnLst/>
            <a:rect l="l" t="t" r="r" b="b"/>
            <a:pathLst>
              <a:path w="10698480">
                <a:moveTo>
                  <a:pt x="0" y="0"/>
                </a:moveTo>
                <a:lnTo>
                  <a:pt x="10698479" y="0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0" y="733426"/>
            <a:ext cx="711200" cy="6124575"/>
          </a:xfrm>
          <a:custGeom>
            <a:avLst/>
            <a:gdLst/>
            <a:ahLst/>
            <a:cxnLst/>
            <a:rect l="l" t="t" r="r" b="b"/>
            <a:pathLst>
              <a:path w="711200" h="6124575">
                <a:moveTo>
                  <a:pt x="711014" y="6124575"/>
                </a:moveTo>
                <a:lnTo>
                  <a:pt x="0" y="6124575"/>
                </a:lnTo>
                <a:lnTo>
                  <a:pt x="0" y="0"/>
                </a:lnTo>
                <a:lnTo>
                  <a:pt x="711014" y="0"/>
                </a:lnTo>
                <a:lnTo>
                  <a:pt x="711014" y="6124575"/>
                </a:lnTo>
                <a:close/>
              </a:path>
            </a:pathLst>
          </a:custGeom>
          <a:solidFill>
            <a:srgbClr val="2E469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89109" y="2621408"/>
            <a:ext cx="592074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89109" y="2621408"/>
            <a:ext cx="592074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rgbClr val="C0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file/d/1QrHrUpR1b8_xAnXd7kmTWCZH9VDYrLfD/view?usp=sharing" TargetMode="External"/><Relationship Id="rId4" Type="http://schemas.openxmlformats.org/officeDocument/2006/relationships/hyperlink" Target="https://drive.google.com/file/d/1WEk5H4OfOpsRd8wjEyqGaNejdJDw8bV-/view?usp=shar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652375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chpacs.ca/diy-real-time-ecg-monitoring-system-using-ad8232-and-arduino-uno-2198" TargetMode="External"/><Relationship Id="rId5" Type="http://schemas.openxmlformats.org/officeDocument/2006/relationships/hyperlink" Target="https://pmc.ncbi.nlm.nih.gov/articles/PMC9330198/" TargetMode="External"/><Relationship Id="rId4" Type="http://schemas.openxmlformats.org/officeDocument/2006/relationships/hyperlink" Target="https://pmc.ncbi.nlm.nih.gov/articles/PMC9601552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8050" y="1073911"/>
            <a:ext cx="11271249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65" dirty="0">
                <a:solidFill>
                  <a:srgbClr val="3333CC"/>
                </a:solidFill>
                <a:latin typeface="Times New Roman"/>
                <a:cs typeface="Times New Roman"/>
              </a:rPr>
              <a:t>IoT based Wearable Health Care Monitoring Device &amp; Medical Emergency Response System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8192" y="2227831"/>
            <a:ext cx="235251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Project </a:t>
            </a:r>
            <a:r>
              <a:rPr sz="2400" b="1" spc="-25" dirty="0">
                <a:latin typeface="Times New Roman"/>
                <a:cs typeface="Times New Roman"/>
              </a:rPr>
              <a:t>ID:</a:t>
            </a:r>
            <a:r>
              <a:rPr lang="en-US" sz="2400" b="1" spc="-25" dirty="0">
                <a:latin typeface="Times New Roman"/>
                <a:cs typeface="Times New Roman"/>
              </a:rPr>
              <a:t> 34082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18645" y="2569730"/>
            <a:ext cx="2592188" cy="63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1400" b="1" spc="-20" dirty="0">
                <a:latin typeface="Times New Roman"/>
                <a:cs typeface="Times New Roman"/>
              </a:rPr>
              <a:t>Abinas Keshari Singh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endParaRPr lang="en-US" sz="1400" b="1" spc="-20"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Roll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No: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lang="en-IN" sz="1400" b="1" spc="-25" dirty="0">
                <a:latin typeface="Times New Roman"/>
                <a:cs typeface="Times New Roman"/>
              </a:rPr>
              <a:t>202224418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5454" y="2969663"/>
            <a:ext cx="1893012" cy="10667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73273" y="4182868"/>
            <a:ext cx="381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5" dirty="0">
                <a:latin typeface="Times New Roman"/>
                <a:cs typeface="Times New Roman"/>
              </a:rPr>
              <a:t>By</a:t>
            </a:r>
            <a:endParaRPr sz="2400" i="1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67173" y="5306325"/>
            <a:ext cx="5116887" cy="100283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00"/>
              </a:spcBef>
            </a:pPr>
            <a:r>
              <a:rPr i="1" dirty="0">
                <a:solidFill>
                  <a:srgbClr val="0000CC"/>
                </a:solidFill>
                <a:latin typeface="Times New Roman"/>
                <a:cs typeface="Times New Roman"/>
              </a:rPr>
              <a:t>Under</a:t>
            </a:r>
            <a:r>
              <a:rPr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/>
                <a:cs typeface="Times New Roman"/>
              </a:rPr>
              <a:t>the</a:t>
            </a:r>
            <a:r>
              <a:rPr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i="1" dirty="0">
                <a:solidFill>
                  <a:srgbClr val="0000CC"/>
                </a:solidFill>
                <a:latin typeface="Times New Roman"/>
                <a:cs typeface="Times New Roman"/>
              </a:rPr>
              <a:t>guidance</a:t>
            </a:r>
            <a:r>
              <a:rPr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i="1" spc="-35" dirty="0">
                <a:solidFill>
                  <a:srgbClr val="0000CC"/>
                </a:solidFill>
                <a:latin typeface="Times New Roman"/>
                <a:cs typeface="Times New Roman"/>
              </a:rPr>
              <a:t>of</a:t>
            </a:r>
            <a:endParaRPr sz="2800" dirty="0">
              <a:latin typeface="Times New Roman"/>
              <a:cs typeface="Times New Roman"/>
            </a:endParaRPr>
          </a:p>
          <a:p>
            <a:pPr marL="86360" algn="ctr">
              <a:lnSpc>
                <a:spcPct val="100000"/>
              </a:lnSpc>
              <a:spcBef>
                <a:spcPts val="500"/>
              </a:spcBef>
              <a:tabLst>
                <a:tab pos="1024255" algn="l"/>
              </a:tabLst>
            </a:pPr>
            <a:r>
              <a:rPr lang="en-US" sz="2800" b="1" spc="-10" dirty="0" err="1">
                <a:latin typeface="Times New Roman"/>
                <a:cs typeface="Times New Roman"/>
              </a:rPr>
              <a:t>Asst</a:t>
            </a:r>
            <a:r>
              <a:rPr lang="en-US" sz="2800" b="1" spc="-1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Prof.</a:t>
            </a:r>
            <a:r>
              <a:rPr lang="en-US" sz="2800" b="1" spc="-10" dirty="0">
                <a:latin typeface="Times New Roman"/>
                <a:cs typeface="Times New Roman"/>
              </a:rPr>
              <a:t> Manoj Kumar Sahoo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2578" y="2485615"/>
            <a:ext cx="984055" cy="843482"/>
          </a:xfrm>
          <a:prstGeom prst="rect">
            <a:avLst/>
          </a:prstGeom>
        </p:spPr>
      </p:pic>
      <p:sp>
        <p:nvSpPr>
          <p:cNvPr id="20" name="object 9">
            <a:extLst>
              <a:ext uri="{FF2B5EF4-FFF2-40B4-BE49-F238E27FC236}">
                <a16:creationId xmlns:a16="http://schemas.microsoft.com/office/drawing/2014/main" id="{1336FE3B-6034-36F3-E3B2-E34B1E3F8F12}"/>
              </a:ext>
            </a:extLst>
          </p:cNvPr>
          <p:cNvSpPr txBox="1"/>
          <p:nvPr/>
        </p:nvSpPr>
        <p:spPr>
          <a:xfrm>
            <a:off x="8224033" y="2558573"/>
            <a:ext cx="2236667" cy="63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1400" b="1" spc="-20" dirty="0">
                <a:latin typeface="Times New Roman"/>
                <a:cs typeface="Times New Roman"/>
              </a:rPr>
              <a:t>Antaryami Sahu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endParaRPr lang="en-US" sz="1400" b="1" spc="-20"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Roll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No: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lang="en-US" sz="1400" b="1" spc="-25" dirty="0">
                <a:latin typeface="Times New Roman"/>
                <a:cs typeface="Times New Roman"/>
              </a:rPr>
              <a:t>202220707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C674CE04-E0BE-F501-C0C9-FEF7C69228FA}"/>
              </a:ext>
            </a:extLst>
          </p:cNvPr>
          <p:cNvSpPr txBox="1"/>
          <p:nvPr/>
        </p:nvSpPr>
        <p:spPr>
          <a:xfrm>
            <a:off x="8192455" y="4312157"/>
            <a:ext cx="2566134" cy="63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1400" b="1" spc="-20" dirty="0">
                <a:latin typeface="Times New Roman"/>
                <a:cs typeface="Times New Roman"/>
              </a:rPr>
              <a:t>Sailesh Kumar Nahak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endParaRPr lang="en-US" sz="1400" b="1" spc="-20"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IN" sz="1400" b="1" dirty="0">
                <a:latin typeface="Times New Roman"/>
                <a:cs typeface="Times New Roman"/>
              </a:rPr>
              <a:t>Roll</a:t>
            </a:r>
            <a:r>
              <a:rPr lang="en-IN" sz="1400" b="1" spc="-30" dirty="0">
                <a:latin typeface="Times New Roman"/>
                <a:cs typeface="Times New Roman"/>
              </a:rPr>
              <a:t> </a:t>
            </a:r>
            <a:r>
              <a:rPr lang="en-IN" sz="1400" b="1" dirty="0">
                <a:latin typeface="Times New Roman"/>
                <a:cs typeface="Times New Roman"/>
              </a:rPr>
              <a:t>No:</a:t>
            </a:r>
            <a:r>
              <a:rPr lang="en-IN" sz="1400" b="1" spc="-25" dirty="0">
                <a:latin typeface="Times New Roman"/>
                <a:cs typeface="Times New Roman"/>
              </a:rPr>
              <a:t> </a:t>
            </a:r>
            <a:r>
              <a:rPr lang="en-US" sz="1400" b="1" spc="-25" dirty="0">
                <a:latin typeface="Times New Roman"/>
                <a:cs typeface="Times New Roman"/>
              </a:rPr>
              <a:t>202220083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21EC34B5-0EBF-BCD9-4FAC-BF70C249A887}"/>
              </a:ext>
            </a:extLst>
          </p:cNvPr>
          <p:cNvSpPr txBox="1"/>
          <p:nvPr/>
        </p:nvSpPr>
        <p:spPr>
          <a:xfrm>
            <a:off x="2418645" y="4344322"/>
            <a:ext cx="2625942" cy="63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1400" b="1" spc="-20" dirty="0">
                <a:latin typeface="Times New Roman"/>
                <a:cs typeface="Times New Roman"/>
              </a:rPr>
              <a:t>Oum Prakash Paricha</a:t>
            </a: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Roll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No:</a:t>
            </a:r>
            <a:r>
              <a:rPr lang="en-US" sz="1400" b="1" spc="-25" dirty="0">
                <a:latin typeface="Times New Roman"/>
                <a:cs typeface="Times New Roman"/>
              </a:rPr>
              <a:t> 202220693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8D3D0F8-6121-D59A-20B0-6B2479D7E45A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</a:t>
            </a:r>
            <a:r>
              <a:rPr lang="en-IN" b="1" spc="-10" dirty="0">
                <a:solidFill>
                  <a:schemeClr val="accent6"/>
                </a:solidFill>
                <a:latin typeface="Arial"/>
                <a:cs typeface="Arial"/>
              </a:rPr>
              <a:t>AJOR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B03999-7493-3126-ACE1-902851ED9B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578" y="2386947"/>
            <a:ext cx="984055" cy="984055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2FE799C0-AF45-7B4E-62C1-DEA6C8DF65F8}"/>
              </a:ext>
            </a:extLst>
          </p:cNvPr>
          <p:cNvSpPr txBox="1"/>
          <p:nvPr/>
        </p:nvSpPr>
        <p:spPr>
          <a:xfrm>
            <a:off x="11522102" y="645210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0" dirty="0">
                <a:solidFill>
                  <a:srgbClr val="0D0D0D"/>
                </a:solidFill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C809AB3-2530-E2E1-0E50-7B3E494036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8" b="11195"/>
          <a:stretch>
            <a:fillRect/>
          </a:stretch>
        </p:blipFill>
        <p:spPr>
          <a:xfrm>
            <a:off x="1217287" y="4113036"/>
            <a:ext cx="961343" cy="103155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6C9BD07-D459-80BB-A93C-EAFB17D6F69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4" t="19048" r="9407"/>
          <a:stretch>
            <a:fillRect/>
          </a:stretch>
        </p:blipFill>
        <p:spPr>
          <a:xfrm>
            <a:off x="1205930" y="2218173"/>
            <a:ext cx="984055" cy="105358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B292C1C-3D4E-097F-1175-56C64CF58BF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2" b="12734"/>
          <a:stretch>
            <a:fillRect/>
          </a:stretch>
        </p:blipFill>
        <p:spPr>
          <a:xfrm>
            <a:off x="10657156" y="4077891"/>
            <a:ext cx="984055" cy="10748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0AA2-8F8B-2359-6B0D-AABF3F74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39F7C64-0D98-13D4-730F-BF0B29D1405B}"/>
              </a:ext>
            </a:extLst>
          </p:cNvPr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6F614DF-235B-661E-6421-520F946157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0AFC66F7-A529-8E40-70F9-2250CA33C5B4}"/>
              </a:ext>
            </a:extLst>
          </p:cNvPr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78B3425-097D-49C3-8370-2CCB730F0D8C}"/>
              </a:ext>
            </a:extLst>
          </p:cNvPr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F736755F-9A4E-1254-15E8-7B1340FD28C5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MAJOR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92295911-F65A-102F-29E6-B3C0524B11AF}"/>
              </a:ext>
            </a:extLst>
          </p:cNvPr>
          <p:cNvSpPr txBox="1"/>
          <p:nvPr/>
        </p:nvSpPr>
        <p:spPr>
          <a:xfrm>
            <a:off x="11522102" y="645210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1A8152DC-FB78-0308-9AC5-2229D381F0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732" y="480793"/>
            <a:ext cx="29654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65" dirty="0">
                <a:solidFill>
                  <a:srgbClr val="3333CC"/>
                </a:solidFill>
                <a:latin typeface="Times New Roman"/>
                <a:cs typeface="Times New Roman"/>
              </a:rPr>
              <a:t>Table of Content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FA4D0EF-CE3C-7895-713C-FA15E82C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18" y="1128228"/>
            <a:ext cx="11403196" cy="5519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19430" indent="-51943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q"/>
              <a:defRPr sz="2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 pitchFamily="34" charset="0"/>
              </a:defRPr>
            </a:lvl1pPr>
            <a:lvl2pPr marL="1146175" lvl="1" indent="45085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v"/>
              <a:defRPr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 pitchFamily="34" charset="0"/>
              </a:defRPr>
            </a:lvl2pPr>
            <a:lvl3pPr marL="2116455" lvl="2" indent="-287655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2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519430" marR="0" lvl="0" indent="-51943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6" charset="0"/>
                <a:cs typeface="Times New Roman" panose="02020603050405020304" pitchFamily="16" charset="0"/>
                <a:sym typeface="Arial" panose="020B0604020202020204" pitchFamily="34" charset="0"/>
              </a:rPr>
              <a:t>Problem Statement</a:t>
            </a:r>
            <a:endParaRPr kumimoji="0" lang="en-US" altLang="en-GB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cs typeface="Times New Roman" panose="02020603050405020304" pitchFamily="16" charset="0"/>
              <a:sym typeface="Arial" panose="020B0604020202020204" pitchFamily="34" charset="0"/>
            </a:endParaRPr>
          </a:p>
          <a:p>
            <a:pPr marL="519430" marR="0" lvl="0" indent="-51943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6" charset="0"/>
                <a:cs typeface="Times New Roman" panose="02020603050405020304" pitchFamily="16" charset="0"/>
                <a:sym typeface="Arial" panose="020B0604020202020204" pitchFamily="34" charset="0"/>
              </a:rPr>
              <a:t>Objective</a:t>
            </a:r>
            <a:endParaRPr kumimoji="0" lang="en-US" altLang="en-GB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cs typeface="Times New Roman" panose="02020603050405020304" pitchFamily="16" charset="0"/>
              <a:sym typeface="Arial" panose="020B0604020202020204" pitchFamily="34" charset="0"/>
            </a:endParaRPr>
          </a:p>
          <a:p>
            <a:pPr marL="519430" marR="0" lvl="0" indent="-51943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6" charset="0"/>
                <a:cs typeface="Times New Roman" panose="02020603050405020304" pitchFamily="16" charset="0"/>
                <a:sym typeface="Arial" panose="020B0604020202020204" pitchFamily="34" charset="0"/>
              </a:rPr>
              <a:t>Methodology</a:t>
            </a:r>
          </a:p>
          <a:p>
            <a:pPr marL="519430" marR="0" lvl="0" indent="-51943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IN" altLang="en-GB" sz="2800" b="1" dirty="0">
                <a:latin typeface="Times New Roman" panose="02020603050405020304" pitchFamily="16" charset="0"/>
                <a:cs typeface="Times New Roman" panose="02020603050405020304" pitchFamily="16" charset="0"/>
              </a:rPr>
              <a:t>Circuit Diagram</a:t>
            </a:r>
            <a:endParaRPr kumimoji="0" lang="en-US" altLang="en-GB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+mn-ea"/>
            </a:endParaRPr>
          </a:p>
          <a:p>
            <a:pPr marL="519430" marR="0" lvl="0" indent="-51943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IN" altLang="en-US" sz="2800" b="1" dirty="0">
                <a:latin typeface="Times New Roman" panose="02020603050405020304" pitchFamily="16" charset="0"/>
                <a:cs typeface="Times New Roman" panose="02020603050405020304" pitchFamily="16" charset="0"/>
              </a:rPr>
              <a:t>Current</a:t>
            </a:r>
            <a:r>
              <a:rPr kumimoji="0" lang="en-I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6" charset="0"/>
                <a:cs typeface="Times New Roman" panose="02020603050405020304" pitchFamily="16" charset="0"/>
                <a:sym typeface="Arial" panose="020B0604020202020204" pitchFamily="34" charset="0"/>
              </a:rPr>
              <a:t> Outcome &amp; Future Work</a:t>
            </a:r>
          </a:p>
          <a:p>
            <a:pPr marL="519430" marR="0" lvl="0" indent="-51943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IN" altLang="en-US" sz="2800" b="1" dirty="0">
                <a:latin typeface="Times New Roman" panose="02020603050405020304" pitchFamily="16" charset="0"/>
                <a:cs typeface="Times New Roman" panose="02020603050405020304" pitchFamily="16" charset="0"/>
              </a:rPr>
              <a:t>Cloud Connection &amp; Data Transfer</a:t>
            </a: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cs typeface="Times New Roman" panose="02020603050405020304" pitchFamily="16" charset="0"/>
              <a:sym typeface="Arial" panose="020B0604020202020204" pitchFamily="34" charset="0"/>
            </a:endParaRPr>
          </a:p>
          <a:p>
            <a:pPr marL="519430" marR="0" lvl="0" indent="-51943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6" charset="0"/>
                <a:cs typeface="Times New Roman" panose="02020603050405020304" pitchFamily="16" charset="0"/>
                <a:sym typeface="Arial" panose="020B0604020202020204" pitchFamily="34" charset="0"/>
              </a:rPr>
              <a:t>References</a:t>
            </a: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cs typeface="Times New Roman" panose="02020603050405020304" pitchFamily="16" charset="0"/>
              <a:sym typeface="Arial" panose="020B0604020202020204" pitchFamily="34" charset="0"/>
            </a:endParaRPr>
          </a:p>
          <a:p>
            <a:pPr marL="519430" marR="0" lvl="0" indent="-51943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6" charset="0"/>
              <a:cs typeface="Times New Roman" panose="02020603050405020304" pitchFamily="16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12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522102" y="645210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spc="-50" dirty="0">
                <a:solidFill>
                  <a:srgbClr val="0D0D0D"/>
                </a:solidFill>
                <a:latin typeface="Arial"/>
                <a:cs typeface="Arial"/>
              </a:rPr>
              <a:t>3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21666" y="440703"/>
            <a:ext cx="38512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2A7E"/>
                </a:solidFill>
                <a:latin typeface="Calibri"/>
                <a:cs typeface="Calibri"/>
              </a:rPr>
              <a:t>PROBLEM</a:t>
            </a:r>
            <a:r>
              <a:rPr sz="3200" b="1" spc="-170" dirty="0">
                <a:solidFill>
                  <a:srgbClr val="002A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2A7E"/>
                </a:solidFill>
                <a:latin typeface="Calibri"/>
                <a:cs typeface="Calibri"/>
              </a:rPr>
              <a:t>STATEMENT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1665" y="1153431"/>
            <a:ext cx="6287185" cy="43559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0" indent="-615950" algn="just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causes 31% of all deaths in India. Cases are rising among young adults.</a:t>
            </a:r>
          </a:p>
          <a:p>
            <a:pPr marL="628650" indent="-615950" algn="just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25% of heart attacks happen to people under 40. This includes more than 5,000 deaths yearly in the ages of 18 to 35.</a:t>
            </a:r>
          </a:p>
          <a:p>
            <a:pPr marL="628650" indent="-615950" algn="just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areas struggle because they lack real-time monitoring and slow emergency response.</a:t>
            </a:r>
          </a:p>
          <a:p>
            <a:pPr marL="628650" indent="-615950" algn="just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needs a low-cost IoT wearable for live heart tracking and automatic emergency alerts.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BAFC3F-4153-7AA9-3209-4689062A5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3" t="6564" r="21874" b="16836"/>
          <a:stretch>
            <a:fillRect/>
          </a:stretch>
        </p:blipFill>
        <p:spPr>
          <a:xfrm>
            <a:off x="8680450" y="1393802"/>
            <a:ext cx="2274597" cy="2298341"/>
          </a:xfrm>
          <a:prstGeom prst="rect">
            <a:avLst/>
          </a:prstGeom>
        </p:spPr>
      </p:pic>
      <p:sp>
        <p:nvSpPr>
          <p:cNvPr id="12" name="object 5">
            <a:extLst>
              <a:ext uri="{FF2B5EF4-FFF2-40B4-BE49-F238E27FC236}">
                <a16:creationId xmlns:a16="http://schemas.microsoft.com/office/drawing/2014/main" id="{D991FBD5-5710-CBCF-2985-D92832DA521A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MAJOR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321AEB-3B98-2193-37C1-6E96F5D6F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00"/>
          <a:stretch>
            <a:fillRect/>
          </a:stretch>
        </p:blipFill>
        <p:spPr>
          <a:xfrm>
            <a:off x="8451850" y="3803448"/>
            <a:ext cx="2985101" cy="20287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522102" y="645210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spc="-50" dirty="0">
                <a:solidFill>
                  <a:srgbClr val="0D0D0D"/>
                </a:solidFill>
                <a:latin typeface="Arial"/>
                <a:cs typeface="Arial"/>
              </a:rPr>
              <a:t>4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21666" y="453973"/>
            <a:ext cx="18211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2A7E"/>
                </a:solidFill>
                <a:latin typeface="Calibri"/>
                <a:cs typeface="Calibri"/>
              </a:rPr>
              <a:t>OBJECTIVE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699E73E-0DDC-A9A5-DB77-42DC2D155D12}"/>
              </a:ext>
            </a:extLst>
          </p:cNvPr>
          <p:cNvSpPr txBox="1"/>
          <p:nvPr/>
        </p:nvSpPr>
        <p:spPr>
          <a:xfrm>
            <a:off x="1021666" y="1225521"/>
            <a:ext cx="10819706" cy="339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wearable device that uses IoT technology to monitor cardiac parameters continuously.  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Pulse Oximeter Heart Rate (MAX30100) sensor and Arduino Uno R4 to measure heart rate and oxygen saturation (SpO2). 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edge computing for real-time detection of anomalies and to generate alerts.  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multi-channel emergency response system that includes SMS, email, and GPS.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the system is affordable and can be scaled for rural and elderly healthcare.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7A00829D-43A0-E1FD-3293-E7FC6BA66B29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MAJOR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522102" y="645210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0" dirty="0">
                <a:solidFill>
                  <a:srgbClr val="0D0D0D"/>
                </a:solidFill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45334" y="476887"/>
            <a:ext cx="27571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2A7E"/>
                </a:solidFill>
                <a:latin typeface="Calibri"/>
                <a:cs typeface="Calibri"/>
              </a:rPr>
              <a:t>METHODOLOGY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CD285366-D396-FB34-508E-E5F9602899ED}"/>
              </a:ext>
            </a:extLst>
          </p:cNvPr>
          <p:cNvSpPr txBox="1"/>
          <p:nvPr/>
        </p:nvSpPr>
        <p:spPr>
          <a:xfrm>
            <a:off x="1021666" y="1264320"/>
            <a:ext cx="10819706" cy="39660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 Data acquisition using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AD8232 ECG Heart Rate Monitoring Sensor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628650" algn="l"/>
              </a:tabLs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Temperature (LM35) sensors for heart rate, SpO2, and temperature.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Signal processing and noise reduction using microcontroller’s onboard edge computing.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Anomaly detection based on adaptive threshold algorithms personalized per patient.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STEP-4: Emergency alert dispatch via GSM/Wi-Fi (SMS, email, GPS) integration.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STEP-5: Data visualization and remote access via secure web dashboard for healthcare providers.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CEF6F7A1-6384-75C6-2CE6-60D6241048DD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MAJOR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8A57-E9F1-BFF4-CF76-11A5FB7D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52069B-41F7-C883-6D6A-4C28BC0537B3}"/>
              </a:ext>
            </a:extLst>
          </p:cNvPr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9A3CCA5-0B4E-7CD1-AFCB-B5006E8AE8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0A34368F-BA0B-E9BA-8B27-131B2211C303}"/>
              </a:ext>
            </a:extLst>
          </p:cNvPr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5A36BFC-9882-8811-FB6E-D0222B8DAAD5}"/>
              </a:ext>
            </a:extLst>
          </p:cNvPr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BA19F61-261A-C070-87C9-FA8602FAB449}"/>
              </a:ext>
            </a:extLst>
          </p:cNvPr>
          <p:cNvSpPr txBox="1"/>
          <p:nvPr/>
        </p:nvSpPr>
        <p:spPr>
          <a:xfrm>
            <a:off x="11522102" y="645210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0" dirty="0">
                <a:solidFill>
                  <a:srgbClr val="0D0D0D"/>
                </a:solidFill>
                <a:latin typeface="Arial"/>
                <a:cs typeface="Arial"/>
              </a:rPr>
              <a:t>6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577B3D0-4794-0CA8-556E-C4678179E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334" y="476887"/>
            <a:ext cx="32155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002A7E"/>
                </a:solidFill>
                <a:latin typeface="Calibri"/>
                <a:cs typeface="Calibri"/>
              </a:rPr>
              <a:t>CIRCUIT-DIAGRAM  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0B47B831-7801-2170-F136-24184508315A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MAJOR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8BFF52-4D64-0C5C-BAB9-5D93B9ACC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925" y="1504950"/>
            <a:ext cx="7029450" cy="3981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4A239C-7ED2-905E-9F43-593C2BA4CB0B}"/>
              </a:ext>
            </a:extLst>
          </p:cNvPr>
          <p:cNvSpPr txBox="1"/>
          <p:nvPr/>
        </p:nvSpPr>
        <p:spPr>
          <a:xfrm>
            <a:off x="1045333" y="5715000"/>
            <a:ext cx="283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Practical Explanation</a:t>
            </a:r>
            <a:r>
              <a:rPr lang="en-US" dirty="0">
                <a:latin typeface="+mj-lt"/>
              </a:rPr>
              <a:t>: </a:t>
            </a:r>
            <a:r>
              <a:rPr lang="en-US" dirty="0">
                <a:latin typeface="+mj-lt"/>
                <a:hlinkClick r:id="rId4"/>
              </a:rPr>
              <a:t>video</a:t>
            </a:r>
            <a:endParaRPr lang="en-IN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9A973B-885F-A993-30C4-69B168DF5695}"/>
              </a:ext>
            </a:extLst>
          </p:cNvPr>
          <p:cNvSpPr txBox="1"/>
          <p:nvPr/>
        </p:nvSpPr>
        <p:spPr>
          <a:xfrm>
            <a:off x="4337050" y="5715000"/>
            <a:ext cx="283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Live Simulation</a:t>
            </a:r>
            <a:r>
              <a:rPr lang="en-US" dirty="0">
                <a:latin typeface="+mj-lt"/>
              </a:rPr>
              <a:t>: </a:t>
            </a:r>
            <a:r>
              <a:rPr lang="en-US" dirty="0">
                <a:latin typeface="+mj-lt"/>
                <a:hlinkClick r:id="rId5"/>
              </a:rPr>
              <a:t>video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017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522102" y="645210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0" dirty="0">
                <a:solidFill>
                  <a:srgbClr val="0D0D0D"/>
                </a:solidFill>
                <a:latin typeface="Arial"/>
                <a:cs typeface="Arial"/>
              </a:rPr>
              <a:t>7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9934" y="455741"/>
            <a:ext cx="66699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spc="-10" dirty="0">
                <a:solidFill>
                  <a:srgbClr val="002A7E"/>
                </a:solidFill>
                <a:latin typeface="Calibri"/>
                <a:cs typeface="Calibri"/>
              </a:rPr>
              <a:t>CURRENT </a:t>
            </a:r>
            <a:r>
              <a:rPr sz="3200" b="1" spc="-10" dirty="0">
                <a:solidFill>
                  <a:srgbClr val="002A7E"/>
                </a:solidFill>
                <a:latin typeface="Calibri"/>
                <a:cs typeface="Calibri"/>
              </a:rPr>
              <a:t>OUTCOME</a:t>
            </a:r>
            <a:r>
              <a:rPr lang="en-IN" sz="3200" b="1" spc="-10" dirty="0">
                <a:solidFill>
                  <a:srgbClr val="002A7E"/>
                </a:solidFill>
                <a:latin typeface="Calibri"/>
                <a:cs typeface="Calibri"/>
              </a:rPr>
              <a:t> &amp; FUTURE WORK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C21B3302-6D39-DA82-2EA5-4C10F01E404F}"/>
              </a:ext>
            </a:extLst>
          </p:cNvPr>
          <p:cNvSpPr txBox="1"/>
          <p:nvPr/>
        </p:nvSpPr>
        <p:spPr>
          <a:xfrm>
            <a:off x="1021666" y="1179339"/>
            <a:ext cx="10819706" cy="2914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system uptime with a 1.4-second average alert latency.  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heart failure and cardiomyopathy progression through continuous monitoring.  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 caregiver response rate within two minutes of alert generation.  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reduction in cardiac emergency mortality through rapid intervention.  </a:t>
            </a:r>
          </a:p>
          <a:p>
            <a:pPr marL="628650" indent="-615950">
              <a:lnSpc>
                <a:spcPct val="150000"/>
              </a:lnSpc>
              <a:spcBef>
                <a:spcPts val="100"/>
              </a:spcBef>
              <a:buFont typeface="Segoe UI Symbol"/>
              <a:buChar char="❑"/>
              <a:tabLst>
                <a:tab pos="628650" algn="l"/>
              </a:tabLs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affordable solution suitable for rural healthcare integration.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962C8619-D4CA-6193-3342-368218FB6A0C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MAJOR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6A5896-DCDA-17CD-37EA-97222F301B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050" y="4201355"/>
            <a:ext cx="3169920" cy="1981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D8E2EE-3E7C-1340-4016-D9B90608C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372" y="4182882"/>
            <a:ext cx="316992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D6B0-3B58-CC22-3BAB-4C4BA4C3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694576-0E1D-353F-543C-4533127DBBEA}"/>
              </a:ext>
            </a:extLst>
          </p:cNvPr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8F7985C-D3A2-6F46-1A19-92D8E3B3E0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3F4888C1-B9A1-03EF-6581-2CB66BB605EC}"/>
              </a:ext>
            </a:extLst>
          </p:cNvPr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03F1301-8A86-6D29-6C9A-BA496535489D}"/>
              </a:ext>
            </a:extLst>
          </p:cNvPr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F5B312-D16C-ACBC-7EE1-EC075466978E}"/>
              </a:ext>
            </a:extLst>
          </p:cNvPr>
          <p:cNvSpPr txBox="1"/>
          <p:nvPr/>
        </p:nvSpPr>
        <p:spPr>
          <a:xfrm>
            <a:off x="11522102" y="645210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0" dirty="0">
                <a:solidFill>
                  <a:srgbClr val="0D0D0D"/>
                </a:solidFill>
                <a:latin typeface="Arial"/>
                <a:cs typeface="Arial"/>
              </a:rPr>
              <a:t>8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27EC156-C018-51F9-B6A3-4E34BAA80538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MAJOR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C7268CBA-1F87-F08E-3874-BC0F909913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934" y="455741"/>
            <a:ext cx="68985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2A7E"/>
                </a:solidFill>
                <a:latin typeface="Calibri"/>
                <a:cs typeface="Calibri"/>
              </a:rPr>
              <a:t>CLOUD CONNECTION &amp; DATA TRANSFER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E92F40-B58F-549C-600E-9CA5D3DFF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09" y="1304723"/>
            <a:ext cx="3829050" cy="1238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98F996-5A42-DF8D-E798-B67D68A2EF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09" y="3048000"/>
            <a:ext cx="5225225" cy="2618528"/>
          </a:xfrm>
          <a:prstGeom prst="rect">
            <a:avLst/>
          </a:prstGeom>
        </p:spPr>
      </p:pic>
      <p:pic>
        <p:nvPicPr>
          <p:cNvPr id="14" name="Picture 13" descr="Cloud Connection with ThingSpeak&#10;">
            <a:extLst>
              <a:ext uri="{FF2B5EF4-FFF2-40B4-BE49-F238E27FC236}">
                <a16:creationId xmlns:a16="http://schemas.microsoft.com/office/drawing/2014/main" id="{0E1DE8EF-0D5B-E708-0EA4-9C14F6B814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50" y="1304421"/>
            <a:ext cx="5225225" cy="43602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343423-DA39-6F4F-3682-C1F26BD01F42}"/>
              </a:ext>
            </a:extLst>
          </p:cNvPr>
          <p:cNvSpPr txBox="1"/>
          <p:nvPr/>
        </p:nvSpPr>
        <p:spPr>
          <a:xfrm>
            <a:off x="1654163" y="2508758"/>
            <a:ext cx="2607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Wi-fi connection with Arduino Uno R4</a:t>
            </a:r>
            <a:endParaRPr lang="en-IN" sz="12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33A78-6BE1-52AC-E98C-93BF1F4697FA}"/>
              </a:ext>
            </a:extLst>
          </p:cNvPr>
          <p:cNvSpPr txBox="1"/>
          <p:nvPr/>
        </p:nvSpPr>
        <p:spPr>
          <a:xfrm>
            <a:off x="1446321" y="566652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Flash memory use while uploading programming in microcontroller</a:t>
            </a:r>
            <a:endParaRPr lang="en-IN" sz="12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3519AF-6C74-0E20-18BD-7C494D3759E3}"/>
              </a:ext>
            </a:extLst>
          </p:cNvPr>
          <p:cNvSpPr txBox="1"/>
          <p:nvPr/>
        </p:nvSpPr>
        <p:spPr>
          <a:xfrm>
            <a:off x="7199974" y="5664623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</a:rPr>
              <a:t>Live Dashboard visualization in ThingSpeak after Cloud Connection</a:t>
            </a:r>
            <a:endParaRPr lang="en-I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0727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477592" y="6475844"/>
            <a:ext cx="43494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0" dirty="0">
                <a:solidFill>
                  <a:srgbClr val="0D0D0D"/>
                </a:solidFill>
                <a:latin typeface="Arial"/>
                <a:cs typeface="Arial"/>
              </a:rPr>
              <a:t>10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9934" y="482563"/>
            <a:ext cx="20979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2A7E"/>
                </a:solidFill>
                <a:latin typeface="Calibri"/>
                <a:cs typeface="Calibri"/>
              </a:rPr>
              <a:t>R</a:t>
            </a:r>
            <a:r>
              <a:rPr lang="en-US" sz="3200" b="1" spc="-10" dirty="0">
                <a:solidFill>
                  <a:srgbClr val="002A7E"/>
                </a:solidFill>
                <a:latin typeface="Calibri"/>
                <a:cs typeface="Calibri"/>
              </a:rPr>
              <a:t>EFERENCE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49FF1D4F-4D61-319F-3E40-3B0068E31928}"/>
              </a:ext>
            </a:extLst>
          </p:cNvPr>
          <p:cNvSpPr txBox="1"/>
          <p:nvPr/>
        </p:nvSpPr>
        <p:spPr>
          <a:xfrm>
            <a:off x="1021666" y="1329021"/>
            <a:ext cx="10819706" cy="4317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Chowdhury, S. (2024). “An IoT-Based Wearable Healthcare Monitoring Device and Medical Emergency Response System.” 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https://ieeexplore.ieee.org/document/10652375/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Abdulmalek, S. et al. (2022). “IoT-Based Healthcare-Monitoring System towards Improving Quality of Life.” 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https://pmc.ncbi.nlm.nih.gov/articles/PMC9601552/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Kang, H.S., et al. (2022). “Wearing the Future—Wearables to Empower Users to Take Control of Their Health.” 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https://pmc.ncbi.nlm.nih.gov/articles/PMC9330198/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“DIY Real-Time ECG Monitoring System Using AD8232 and Arduino UNO.” (2024).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https://techpacs.ca/diy-real-time-ecg-monitoring-system-using-ad8232-and-arduino-uno-2198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9369E8E1-E260-1F9B-3C23-E1DAE99CF30D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MAJOR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555" y="2542973"/>
            <a:ext cx="351790" cy="25209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NIST</a:t>
            </a:r>
            <a:r>
              <a:rPr sz="23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914" y="40945"/>
            <a:ext cx="1358385" cy="87345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"/>
            <a:ext cx="711200" cy="733425"/>
          </a:xfrm>
          <a:custGeom>
            <a:avLst/>
            <a:gdLst/>
            <a:ahLst/>
            <a:cxnLst/>
            <a:rect l="l" t="t" r="r" b="b"/>
            <a:pathLst>
              <a:path w="711200" h="733425">
                <a:moveTo>
                  <a:pt x="711014" y="733424"/>
                </a:moveTo>
                <a:lnTo>
                  <a:pt x="0" y="733424"/>
                </a:lnTo>
                <a:lnTo>
                  <a:pt x="0" y="0"/>
                </a:lnTo>
                <a:lnTo>
                  <a:pt x="711014" y="0"/>
                </a:lnTo>
                <a:lnTo>
                  <a:pt x="711014" y="733424"/>
                </a:lnTo>
                <a:close/>
              </a:path>
            </a:pathLst>
          </a:custGeom>
          <a:solidFill>
            <a:srgbClr val="F6964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702549" y="1088407"/>
            <a:ext cx="11457940" cy="1905"/>
          </a:xfrm>
          <a:custGeom>
            <a:avLst/>
            <a:gdLst/>
            <a:ahLst/>
            <a:cxnLst/>
            <a:rect l="l" t="t" r="r" b="b"/>
            <a:pathLst>
              <a:path w="11457940" h="1905">
                <a:moveTo>
                  <a:pt x="0" y="0"/>
                </a:moveTo>
                <a:lnTo>
                  <a:pt x="11457495" y="1587"/>
                </a:lnTo>
              </a:path>
            </a:pathLst>
          </a:custGeom>
          <a:ln w="349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500106" y="6439131"/>
            <a:ext cx="358748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0" dirty="0">
                <a:solidFill>
                  <a:srgbClr val="0D0D0D"/>
                </a:solidFill>
                <a:latin typeface="Arial"/>
                <a:cs typeface="Arial"/>
              </a:rPr>
              <a:t>11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471149" y="2684780"/>
            <a:ext cx="5920740" cy="1488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0" dirty="0"/>
              <a:t> </a:t>
            </a:r>
            <a:r>
              <a:rPr spc="-25" dirty="0"/>
              <a:t>You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B35E6AE3-170A-0CB0-AD11-014800F85816}"/>
              </a:ext>
            </a:extLst>
          </p:cNvPr>
          <p:cNvSpPr txBox="1"/>
          <p:nvPr/>
        </p:nvSpPr>
        <p:spPr>
          <a:xfrm>
            <a:off x="906318" y="66287"/>
            <a:ext cx="59913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accent6"/>
                </a:solidFill>
                <a:latin typeface="Arial"/>
                <a:cs typeface="Arial"/>
              </a:rPr>
              <a:t>B.TECH</a:t>
            </a:r>
            <a:r>
              <a:rPr sz="1800" b="1" spc="415" dirty="0">
                <a:solidFill>
                  <a:schemeClr val="accent6"/>
                </a:solidFill>
                <a:latin typeface="Arial"/>
                <a:cs typeface="Arial"/>
              </a:rPr>
              <a:t> </a:t>
            </a:r>
            <a:r>
              <a:rPr lang="en-IN" sz="1800" b="1" spc="-10" dirty="0">
                <a:solidFill>
                  <a:schemeClr val="accent6"/>
                </a:solidFill>
                <a:latin typeface="Arial"/>
                <a:cs typeface="Arial"/>
              </a:rPr>
              <a:t>MINOR PROJECT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PRESENTATION</a:t>
            </a:r>
            <a:r>
              <a:rPr lang="en-US" sz="1800" b="1" spc="-10" dirty="0">
                <a:solidFill>
                  <a:schemeClr val="accent6"/>
                </a:solidFill>
                <a:latin typeface="Arial"/>
                <a:cs typeface="Arial"/>
              </a:rPr>
              <a:t>  </a:t>
            </a:r>
            <a:r>
              <a:rPr sz="1800" b="1" spc="-10" dirty="0">
                <a:solidFill>
                  <a:schemeClr val="accent6"/>
                </a:solidFill>
                <a:latin typeface="Arial"/>
                <a:cs typeface="Arial"/>
              </a:rPr>
              <a:t>2025-</a:t>
            </a:r>
            <a:r>
              <a:rPr sz="1800" b="1" spc="-25" dirty="0">
                <a:solidFill>
                  <a:schemeClr val="accent6"/>
                </a:solidFill>
                <a:latin typeface="Arial"/>
                <a:cs typeface="Arial"/>
              </a:rPr>
              <a:t>26</a:t>
            </a:r>
            <a:endParaRPr sz="1800" dirty="0">
              <a:solidFill>
                <a:schemeClr val="accent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652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MT</vt:lpstr>
      <vt:lpstr>Calibri</vt:lpstr>
      <vt:lpstr>Segoe UI Symbol</vt:lpstr>
      <vt:lpstr>Times New Roman</vt:lpstr>
      <vt:lpstr>Wingdings</vt:lpstr>
      <vt:lpstr>Office Theme</vt:lpstr>
      <vt:lpstr>IoT based Wearable Health Care Monitoring Device &amp; Medical Emergency Response System</vt:lpstr>
      <vt:lpstr>Table of Content</vt:lpstr>
      <vt:lpstr>PROBLEM STATEMENT</vt:lpstr>
      <vt:lpstr>OBJECTIVE</vt:lpstr>
      <vt:lpstr>METHODOLOGY</vt:lpstr>
      <vt:lpstr>CIRCUIT-DIAGRAM  </vt:lpstr>
      <vt:lpstr>CURRENT OUTCOME &amp; FUTURE WORK</vt:lpstr>
      <vt:lpstr>CLOUD CONNECTION &amp; DATA TRANSFER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based Wearable Health Care Monitoring Device &amp; Medical Emergency Response System</dc:title>
  <dc:creator>Sailesh</dc:creator>
  <cp:lastModifiedBy>Antaryami Sahu</cp:lastModifiedBy>
  <cp:revision>14</cp:revision>
  <dcterms:created xsi:type="dcterms:W3CDTF">2025-10-26T14:49:47Z</dcterms:created>
  <dcterms:modified xsi:type="dcterms:W3CDTF">2026-04-27T07:35:59Z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2025-10-26T00:00:00Z</vt:filetime>
  </property>
</Properties>
</file>